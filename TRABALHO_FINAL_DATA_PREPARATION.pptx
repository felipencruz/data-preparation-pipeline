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56" r:id="rId3"/>
    <p:sldId id="274" r:id="rId4"/>
    <p:sldId id="275" r:id="rId5"/>
    <p:sldId id="276" r:id="rId6"/>
    <p:sldId id="277" r:id="rId7"/>
    <p:sldId id="273" r:id="rId8"/>
    <p:sldId id="278" r:id="rId9"/>
    <p:sldId id="279" r:id="rId10"/>
    <p:sldId id="280" r:id="rId11"/>
    <p:sldId id="281" r:id="rId12"/>
    <p:sldId id="282" r:id="rId13"/>
    <p:sldId id="283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98A8"/>
    <a:srgbClr val="1FCCE5"/>
    <a:srgbClr val="1FA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12" autoAdjust="0"/>
    <p:restoredTop sz="94641" autoAdjust="0"/>
  </p:normalViewPr>
  <p:slideViewPr>
    <p:cSldViewPr snapToGrid="0" snapToObjects="1">
      <p:cViewPr varScale="1">
        <p:scale>
          <a:sx n="78" d="100"/>
          <a:sy n="78" d="100"/>
        </p:scale>
        <p:origin x="754" y="62"/>
      </p:cViewPr>
      <p:guideLst/>
    </p:cSldViewPr>
  </p:slideViewPr>
  <p:outlineViewPr>
    <p:cViewPr>
      <p:scale>
        <a:sx n="33" d="100"/>
        <a:sy n="33" d="100"/>
      </p:scale>
      <p:origin x="0" y="-3029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0AEB57-F5D1-6846-9A9A-4528FAE67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96222"/>
            <a:ext cx="9144000" cy="2387600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894A25-F788-5847-9949-9F6850C480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914324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10293E-8C25-7E40-B1FB-C044DEF31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5760E3-C22B-A14E-97E4-6F8CD2528652}" type="datetimeFigureOut">
              <a:rPr lang="pt-BR" smtClean="0"/>
              <a:pPr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7F07F1-92EF-4A47-95B3-2B73BD768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BEAF2C-C05D-C547-822B-A0F730520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71741B-1716-F74C-A134-08DABDB13825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0540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6EE846-63FF-5B49-AACE-8600F9AB8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490FA0-6F17-F14E-B2B2-5BAD32C7F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CA04EA-FD13-444F-888A-890D2ACC8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60E3-C22B-A14E-97E4-6F8CD252865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11E56F-BADF-EE4C-A4D0-855011605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C445FE-5899-4146-84D4-457F9B551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1741B-1716-F74C-A134-08DABDB138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842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A729A2-065C-3D49-9954-8BD999627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800101"/>
            <a:ext cx="10515600" cy="262890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1B4E003-6080-8646-A4CC-76EA3CF17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684495"/>
            <a:ext cx="10515600" cy="240515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76DA1D-40FC-434E-BDFC-B6D5ED8DC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60E3-C22B-A14E-97E4-6F8CD252865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A51EA3-2FAA-6C46-86A0-23DE650DE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DAB41A-2860-054A-8CF4-ABB5CB00F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1741B-1716-F74C-A134-08DABDB138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8398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717EB3-9425-B745-BA14-6FB892A6F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3F0A46-7DCC-5440-AA74-8F1DEDDC2C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48B73EB-7464-0549-9973-6FD341B49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2B2BA1-21F1-F948-9C4B-CA9F41868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60E3-C22B-A14E-97E4-6F8CD252865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E0C2C3D-7A80-7B4E-99D5-6E01A9BF5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D5BDE54-3D75-3D4B-9516-38FE786DC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1741B-1716-F74C-A134-08DABDB138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3294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080C34-41BC-7142-99AD-E62A5FF38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8660559" cy="1325563"/>
          </a:xfrm>
        </p:spPr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1F9FF35-B92D-8949-B518-0094055A20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37229"/>
            <a:ext cx="5157787" cy="4152434"/>
          </a:xfrm>
        </p:spPr>
        <p:txBody>
          <a:bodyPr/>
          <a:lstStyle/>
          <a:p>
            <a:r>
              <a:rPr lang="pt-BR" dirty="0"/>
              <a:t>Editar estilos de texto Mestre
Segundo nível
Terceiro nível
Quarto nível
Quinto nível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D67BD16-E0B3-1146-8727-00FBA05EB5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37229"/>
            <a:ext cx="5183188" cy="4152434"/>
          </a:xfrm>
        </p:spPr>
        <p:txBody>
          <a:bodyPr/>
          <a:lstStyle/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F4F904F-FB6E-024F-90F6-5865311D3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60E3-C22B-A14E-97E4-6F8CD252865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9863334-5928-1B4C-BC6F-141D356C4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D57F09C-319B-C543-BE5B-BE125FB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1741B-1716-F74C-A134-08DABDB138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258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EEED2-2EE7-294C-9CC4-5E9F183F2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B2CD75E-C2DB-4643-97BE-C9F4DA714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60E3-C22B-A14E-97E4-6F8CD252865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34F36C-930A-624F-9B41-1FCBFFEC2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EAD5AE7-A49C-A940-A680-8AC8237CD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1741B-1716-F74C-A134-08DABDB138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3378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207FB82-3DE4-2B40-A27C-8A294E9E3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60E3-C22B-A14E-97E4-6F8CD252865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C8FC121-3344-C04B-A180-CF64BBA3C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0C7BDB-D086-6449-BA00-D1D82C85F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1741B-1716-F74C-A134-08DABDB138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6103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361EC8-1502-5840-8732-AB446E8E8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249D49-1466-C048-9963-476E8E1B8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057400"/>
            <a:ext cx="6172200" cy="3803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Editar estilos de texto Mestre
Segundo nível
Terceiro nível
Quarto nível
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4152672-78DD-2E4D-BF1D-AABEFC50A2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4D1043-FFD5-E84E-9670-7499CC850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60E3-C22B-A14E-97E4-6F8CD252865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370D0D2-EE20-5348-9ECD-17E32A42C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1D18E6A-EEAB-1740-9796-AFBA0C9EA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1741B-1716-F74C-A134-08DABDB138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1245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DFBEB4-F015-8F4F-82B0-037D6D8CE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D03C6A9-04A0-1142-90FF-F711808A81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057400"/>
            <a:ext cx="6172200" cy="38036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75E207-81CD-4149-ABB8-C3C46AEDA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9F44B76-1126-B940-A1AC-085533D2B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60E3-C22B-A14E-97E4-6F8CD252865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F3B01C-4435-1D45-88D7-D800A6B42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E1DC20-1E09-BB4D-AE3C-E7BE089B5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1741B-1716-F74C-A134-08DABDB138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5216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109077-4110-BD4F-A171-37637FF67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6E6009B-DBD7-8E43-B6C4-5BF0AD7A5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5547BC-4E39-1C45-865F-F67277F20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60E3-C22B-A14E-97E4-6F8CD252865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9F8B26-1636-DC4C-A1C5-333306C5A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53AF2F-1E34-B643-A9A3-76D07C750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1741B-1716-F74C-A134-08DABDB138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1271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607FF62-ECD8-3A46-AD34-78BBC5DA3B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B493FB6-7A9A-7648-B4F2-F1850817F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EBF26A-BC75-704D-B270-16401341B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60E3-C22B-A14E-97E4-6F8CD252865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557C58-BDAF-BE42-886F-DAB7D0EC7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E069A8-C7D7-F34B-AAD2-9474E344B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1741B-1716-F74C-A134-08DABDB138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4187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0AEB57-F5D1-6846-9A9A-4528FAE67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96222"/>
            <a:ext cx="9144000" cy="2387600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894A25-F788-5847-9949-9F6850C480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914324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10293E-8C25-7E40-B1FB-C044DEF31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5760E3-C22B-A14E-97E4-6F8CD2528652}" type="datetimeFigureOut">
              <a:rPr lang="pt-BR" smtClean="0"/>
              <a:pPr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7F07F1-92EF-4A47-95B3-2B73BD768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BEAF2C-C05D-C547-822B-A0F730520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71741B-1716-F74C-A134-08DABDB13825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0404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6EE846-63FF-5B49-AACE-8600F9AB8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490FA0-6F17-F14E-B2B2-5BAD32C7F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CA04EA-FD13-444F-888A-890D2ACC8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60E3-C22B-A14E-97E4-6F8CD252865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11E56F-BADF-EE4C-A4D0-855011605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C445FE-5899-4146-84D4-457F9B551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1741B-1716-F74C-A134-08DABDB138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6737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A729A2-065C-3D49-9954-8BD999627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800101"/>
            <a:ext cx="10515600" cy="262890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1B4E003-6080-8646-A4CC-76EA3CF17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684495"/>
            <a:ext cx="10515600" cy="240515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76DA1D-40FC-434E-BDFC-B6D5ED8DC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60E3-C22B-A14E-97E4-6F8CD252865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A51EA3-2FAA-6C46-86A0-23DE650DE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DAB41A-2860-054A-8CF4-ABB5CB00F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1741B-1716-F74C-A134-08DABDB138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36549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717EB3-9425-B745-BA14-6FB892A6F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3F0A46-7DCC-5440-AA74-8F1DEDDC2C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48B73EB-7464-0549-9973-6FD341B49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2B2BA1-21F1-F948-9C4B-CA9F41868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60E3-C22B-A14E-97E4-6F8CD252865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E0C2C3D-7A80-7B4E-99D5-6E01A9BF5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D5BDE54-3D75-3D4B-9516-38FE786DC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1741B-1716-F74C-A134-08DABDB138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24361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080C34-41BC-7142-99AD-E62A5FF38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8660559" cy="1325563"/>
          </a:xfrm>
        </p:spPr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1F9FF35-B92D-8949-B518-0094055A20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37229"/>
            <a:ext cx="5157787" cy="4152434"/>
          </a:xfrm>
        </p:spPr>
        <p:txBody>
          <a:bodyPr/>
          <a:lstStyle/>
          <a:p>
            <a:r>
              <a:rPr lang="pt-BR" dirty="0"/>
              <a:t>Editar estilos de texto Mestre
Segundo nível
Terceiro nível
Quarto nível
Quinto nível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D67BD16-E0B3-1146-8727-00FBA05EB5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37229"/>
            <a:ext cx="5183188" cy="4152434"/>
          </a:xfrm>
        </p:spPr>
        <p:txBody>
          <a:bodyPr/>
          <a:lstStyle/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F4F904F-FB6E-024F-90F6-5865311D3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60E3-C22B-A14E-97E4-6F8CD252865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9863334-5928-1B4C-BC6F-141D356C4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D57F09C-319B-C543-BE5B-BE125FB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1741B-1716-F74C-A134-08DABDB138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77169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EEED2-2EE7-294C-9CC4-5E9F183F2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B2CD75E-C2DB-4643-97BE-C9F4DA714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60E3-C22B-A14E-97E4-6F8CD252865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34F36C-930A-624F-9B41-1FCBFFEC2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EAD5AE7-A49C-A940-A680-8AC8237CD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1741B-1716-F74C-A134-08DABDB138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95465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207FB82-3DE4-2B40-A27C-8A294E9E3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60E3-C22B-A14E-97E4-6F8CD252865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C8FC121-3344-C04B-A180-CF64BBA3C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0C7BDB-D086-6449-BA00-D1D82C85F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1741B-1716-F74C-A134-08DABDB138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60209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361EC8-1502-5840-8732-AB446E8E8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249D49-1466-C048-9963-476E8E1B8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057400"/>
            <a:ext cx="6172200" cy="3803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pt-BR" dirty="0"/>
              <a:t>Editar estilos de texto Mestre
Segundo nível
Terceiro nível
Quarto nível
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4152672-78DD-2E4D-BF1D-AABEFC50A2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4D1043-FFD5-E84E-9670-7499CC850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60E3-C22B-A14E-97E4-6F8CD252865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370D0D2-EE20-5348-9ECD-17E32A42C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1D18E6A-EEAB-1740-9796-AFBA0C9EA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1741B-1716-F74C-A134-08DABDB138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03528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DFBEB4-F015-8F4F-82B0-037D6D8CE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D03C6A9-04A0-1142-90FF-F711808A81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057400"/>
            <a:ext cx="6172200" cy="38036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75E207-81CD-4149-ABB8-C3C46AEDA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9F44B76-1126-B940-A1AC-085533D2B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60E3-C22B-A14E-97E4-6F8CD252865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F3B01C-4435-1D45-88D7-D800A6B42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E1DC20-1E09-BB4D-AE3C-E7BE089B5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1741B-1716-F74C-A134-08DABDB138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0210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109077-4110-BD4F-A171-37637FF67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6E6009B-DBD7-8E43-B6C4-5BF0AD7A5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5547BC-4E39-1C45-865F-F67277F20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60E3-C22B-A14E-97E4-6F8CD252865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9F8B26-1636-DC4C-A1C5-333306C5A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53AF2F-1E34-B643-A9A3-76D07C750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1741B-1716-F74C-A134-08DABDB138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73692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607FF62-ECD8-3A46-AD34-78BBC5DA3B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B493FB6-7A9A-7648-B4F2-F1850817F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pt-BR"/>
              <a:t>Editar estilos de texto Mestre
Segundo nível
Terceiro nível
Quarto nível
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EBF26A-BC75-704D-B270-16401341B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760E3-C22B-A14E-97E4-6F8CD252865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557C58-BDAF-BE42-886F-DAB7D0EC7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E069A8-C7D7-F34B-AAD2-9474E344B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1741B-1716-F74C-A134-08DABDB138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8532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029C8BA-373F-9647-BD20-3AECD3802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96D9DB-9678-0B42-B3D2-8FBBC0343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pt-BR" dirty="0"/>
              <a:t>Editar estilos de texto Mestre
Segundo nível
Terceiro nível
Quarto nível
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04CDB9-EB3F-9542-9723-A51DEBB9C0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5760E3-C22B-A14E-97E4-6F8CD252865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D3CCE1-2903-0247-9B72-6BDEBCC1F9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4B85D4-C2C6-6B41-AD83-E3927173E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1741B-1716-F74C-A134-08DABDB138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2047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1698A8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029C8BA-373F-9647-BD20-3AECD3802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96D9DB-9678-0B42-B3D2-8FBBC0343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pt-BR"/>
              <a:t>Editar estilos de texto Mestre
Segundo nível
Terceiro nível
Quarto nível
Quinto nível</a:t>
            </a:r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04CDB9-EB3F-9542-9723-A51DEBB9C0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5760E3-C22B-A14E-97E4-6F8CD252865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D3CCE1-2903-0247-9B72-6BDEBCC1F9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4B85D4-C2C6-6B41-AD83-E3927173E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1741B-1716-F74C-A134-08DABDB138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4456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1FCCE5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7F510A-25F0-774B-8CE5-AA519F58D5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653940"/>
            <a:ext cx="9144000" cy="1655762"/>
          </a:xfrm>
        </p:spPr>
        <p:txBody>
          <a:bodyPr>
            <a:normAutofit/>
          </a:bodyPr>
          <a:lstStyle/>
          <a:p>
            <a:r>
              <a:rPr lang="pt-BR" dirty="0"/>
              <a:t>DATA PREPARATION</a:t>
            </a:r>
            <a:br>
              <a:rPr lang="pt-BR" dirty="0"/>
            </a:br>
            <a:r>
              <a:rPr lang="pt-BR" sz="4400" dirty="0"/>
              <a:t>Professor: Sérgio Serra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2B1EDE-6911-B147-BB97-7F10A9A2D4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601119"/>
            <a:ext cx="9144000" cy="1655762"/>
          </a:xfrm>
        </p:spPr>
        <p:txBody>
          <a:bodyPr>
            <a:noAutofit/>
          </a:bodyPr>
          <a:lstStyle/>
          <a:p>
            <a:r>
              <a:rPr lang="pt-BR" sz="2000" b="1" dirty="0"/>
              <a:t>Grupo:</a:t>
            </a:r>
          </a:p>
          <a:p>
            <a:r>
              <a:rPr lang="pt-BR" sz="2000" b="1" dirty="0"/>
              <a:t>Carlos Henrique Ramalho P Linhares</a:t>
            </a:r>
          </a:p>
          <a:p>
            <a:r>
              <a:rPr lang="pt-BR" sz="2000" b="1" dirty="0" err="1"/>
              <a:t>Eralda</a:t>
            </a:r>
            <a:r>
              <a:rPr lang="pt-BR" sz="2000" b="1" dirty="0"/>
              <a:t> Ferreira da Silva</a:t>
            </a:r>
          </a:p>
          <a:p>
            <a:r>
              <a:rPr lang="pt-BR" sz="2000" b="1" dirty="0"/>
              <a:t>Felipe Nascimento da Cruz</a:t>
            </a:r>
          </a:p>
          <a:p>
            <a:r>
              <a:rPr lang="pt-BR" sz="2000" b="1" dirty="0"/>
              <a:t>Flavia Lucena de Araújo</a:t>
            </a:r>
          </a:p>
          <a:p>
            <a:r>
              <a:rPr lang="pt-BR" sz="2000" b="1" dirty="0"/>
              <a:t>Rafael Castilho Freire</a:t>
            </a:r>
          </a:p>
        </p:txBody>
      </p:sp>
    </p:spTree>
    <p:extLst>
      <p:ext uri="{BB962C8B-B14F-4D97-AF65-F5344CB8AC3E}">
        <p14:creationId xmlns:p14="http://schemas.microsoft.com/office/powerpoint/2010/main" val="903278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F6D4C-DDD1-DBA2-32C6-E168C462D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82A1D126-95C1-2B6C-4B4C-9E041469859D}"/>
              </a:ext>
            </a:extLst>
          </p:cNvPr>
          <p:cNvSpPr txBox="1"/>
          <p:nvPr/>
        </p:nvSpPr>
        <p:spPr>
          <a:xfrm>
            <a:off x="494521" y="1699337"/>
            <a:ext cx="1091089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pt-BR" b="1" dirty="0"/>
              <a:t>Estudo técnico e comparativo: Apache Spark (</a:t>
            </a:r>
            <a:r>
              <a:rPr lang="pt-BR" b="1" dirty="0" err="1"/>
              <a:t>PySpark</a:t>
            </a:r>
            <a:r>
              <a:rPr lang="pt-BR" b="1" dirty="0"/>
              <a:t>) vs. </a:t>
            </a:r>
            <a:r>
              <a:rPr lang="pt-BR" b="1" dirty="0" err="1"/>
              <a:t>Pentaho</a:t>
            </a:r>
            <a:r>
              <a:rPr lang="pt-BR" b="1" dirty="0"/>
              <a:t> Data </a:t>
            </a:r>
            <a:r>
              <a:rPr lang="pt-BR" b="1" dirty="0" err="1"/>
              <a:t>Integration</a:t>
            </a:r>
            <a:r>
              <a:rPr lang="pt-BR" b="1" dirty="0"/>
              <a:t> (PDI).</a:t>
            </a:r>
          </a:p>
          <a:p>
            <a:pPr fontAlgn="base"/>
            <a:r>
              <a:rPr lang="pt-BR" b="1" dirty="0"/>
              <a:t>Estudo de caso prático: Pipeline de E-commerce com Arquitetura Medalhão.</a:t>
            </a:r>
          </a:p>
          <a:p>
            <a:pPr fontAlgn="base"/>
            <a:r>
              <a:rPr lang="pt-BR" b="1" dirty="0"/>
              <a:t>Estudo prático publicado em repositório público no GitHub.</a:t>
            </a:r>
          </a:p>
          <a:p>
            <a:endParaRPr lang="pt-BR" b="1" dirty="0"/>
          </a:p>
          <a:p>
            <a:r>
              <a:rPr lang="pt-BR" b="1" dirty="0"/>
              <a:t>Abordagem de Desenvolvimento: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Apache Spark (</a:t>
            </a:r>
            <a:r>
              <a:rPr lang="pt-BR" b="1" dirty="0" err="1"/>
              <a:t>PySpark</a:t>
            </a:r>
            <a:r>
              <a:rPr lang="pt-BR" b="1" dirty="0"/>
              <a:t>):</a:t>
            </a:r>
            <a:r>
              <a:rPr lang="pt-BR" dirty="0"/>
              <a:t> Baseado em código (</a:t>
            </a:r>
            <a:r>
              <a:rPr lang="pt-BR" dirty="0" err="1"/>
              <a:t>Code-based</a:t>
            </a:r>
            <a:r>
              <a:rPr lang="pt-BR" dirty="0"/>
              <a:t>). Oferece flexibilidade total para transformações complexas e 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 err="1"/>
              <a:t>Pentaho</a:t>
            </a:r>
            <a:r>
              <a:rPr lang="pt-BR" b="1" dirty="0"/>
              <a:t> (PDI):</a:t>
            </a:r>
            <a:r>
              <a:rPr lang="pt-BR" dirty="0"/>
              <a:t> Baseado em interface gráfica (GUI-</a:t>
            </a:r>
            <a:r>
              <a:rPr lang="pt-BR" dirty="0" err="1"/>
              <a:t>based</a:t>
            </a:r>
            <a:r>
              <a:rPr lang="pt-BR" dirty="0"/>
              <a:t>). Usa o conceito de "Drag-</a:t>
            </a:r>
            <a:r>
              <a:rPr lang="pt-BR" dirty="0" err="1"/>
              <a:t>and</a:t>
            </a:r>
            <a:r>
              <a:rPr lang="pt-BR" dirty="0"/>
              <a:t>-</a:t>
            </a:r>
            <a:r>
              <a:rPr lang="pt-BR" dirty="0" err="1"/>
              <a:t>drop</a:t>
            </a:r>
            <a:r>
              <a:rPr lang="pt-BR" dirty="0"/>
              <a:t>" (arrastar e soltar) para desenhar fluxos.</a:t>
            </a:r>
          </a:p>
          <a:p>
            <a:pPr lvl="1"/>
            <a:endParaRPr lang="pt-BR" dirty="0"/>
          </a:p>
          <a:p>
            <a:r>
              <a:rPr lang="pt-BR" b="1" dirty="0"/>
              <a:t>Filosofia de Processamento:</a:t>
            </a:r>
          </a:p>
          <a:p>
            <a:endParaRPr lang="pt-B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Spark:</a:t>
            </a:r>
            <a:r>
              <a:rPr lang="pt-BR" dirty="0"/>
              <a:t> Motor de computação distribuída em memória. Ideal para ELT e Big Data real.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 err="1"/>
              <a:t>Pentaho</a:t>
            </a:r>
            <a:r>
              <a:rPr lang="pt-BR" b="1" dirty="0"/>
              <a:t>:</a:t>
            </a:r>
            <a:r>
              <a:rPr lang="pt-BR" dirty="0"/>
              <a:t> </a:t>
            </a:r>
            <a:r>
              <a:rPr lang="pt-BR" dirty="0" err="1"/>
              <a:t>Engine</a:t>
            </a:r>
            <a:r>
              <a:rPr lang="pt-BR" dirty="0"/>
              <a:t> baseada em servidor (Single-node ou Cluster via Carte). Tradicionalmente focado em ETL para Data </a:t>
            </a:r>
            <a:r>
              <a:rPr lang="pt-BR" dirty="0" err="1"/>
              <a:t>Warehouses</a:t>
            </a:r>
            <a:r>
              <a:rPr lang="pt-BR" dirty="0"/>
              <a:t> relacionais.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0601E79-134A-3FBE-28A3-615FFC4AE4D6}"/>
              </a:ext>
            </a:extLst>
          </p:cNvPr>
          <p:cNvSpPr txBox="1">
            <a:spLocks/>
          </p:cNvSpPr>
          <p:nvPr/>
        </p:nvSpPr>
        <p:spPr>
          <a:xfrm>
            <a:off x="494521" y="365125"/>
            <a:ext cx="1051560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698A8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2800" dirty="0"/>
              <a:t>TEMAS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566805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2C4E3-8939-AEE5-1E3B-76FE53010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62622BE-DB5A-3589-A9F4-60D3E9F0C766}"/>
              </a:ext>
            </a:extLst>
          </p:cNvPr>
          <p:cNvSpPr txBox="1">
            <a:spLocks/>
          </p:cNvSpPr>
          <p:nvPr/>
        </p:nvSpPr>
        <p:spPr>
          <a:xfrm>
            <a:off x="49452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698A8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2800" dirty="0"/>
              <a:t>CARACTERÍSTICAS TÉCNICAS E MERCADO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F35AC79A-2119-8663-8F23-E6775DA83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63764"/>
              </p:ext>
            </p:extLst>
          </p:nvPr>
        </p:nvGraphicFramePr>
        <p:xfrm>
          <a:off x="602677" y="2230410"/>
          <a:ext cx="10515600" cy="34137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47950393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2665224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15891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b="1">
                          <a:solidFill>
                            <a:srgbClr val="1F1F1F"/>
                          </a:solidFill>
                          <a:effectLst/>
                        </a:rPr>
                        <a:t>Critério</a:t>
                      </a:r>
                      <a:endParaRPr lang="pt-BR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b="1" dirty="0">
                          <a:solidFill>
                            <a:srgbClr val="1F1F1F"/>
                          </a:solidFill>
                          <a:effectLst/>
                        </a:rPr>
                        <a:t>Apache Spark (</a:t>
                      </a:r>
                      <a:r>
                        <a:rPr lang="pt-BR" b="1" dirty="0" err="1">
                          <a:solidFill>
                            <a:srgbClr val="1F1F1F"/>
                          </a:solidFill>
                          <a:effectLst/>
                        </a:rPr>
                        <a:t>PySpark</a:t>
                      </a:r>
                      <a:r>
                        <a:rPr lang="pt-BR" b="1" dirty="0">
                          <a:solidFill>
                            <a:srgbClr val="1F1F1F"/>
                          </a:solidFill>
                          <a:effectLst/>
                        </a:rPr>
                        <a:t>)</a:t>
                      </a:r>
                      <a:endParaRPr lang="pt-BR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b="1">
                          <a:solidFill>
                            <a:srgbClr val="1F1F1F"/>
                          </a:solidFill>
                          <a:effectLst/>
                        </a:rPr>
                        <a:t>Pentaho (PDI)</a:t>
                      </a:r>
                      <a:endParaRPr lang="pt-BR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1906330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b="1">
                          <a:solidFill>
                            <a:srgbClr val="1F1F1F"/>
                          </a:solidFill>
                          <a:effectLst/>
                        </a:rPr>
                        <a:t>Escalabilidade</a:t>
                      </a:r>
                      <a:endParaRPr lang="pt-BR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>
                          <a:solidFill>
                            <a:srgbClr val="1F1F1F"/>
                          </a:solidFill>
                          <a:effectLst/>
                        </a:rPr>
                        <a:t>Horizontal (Cluster com milhares de nós)</a:t>
                      </a:r>
                      <a:endParaRPr lang="pt-BR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>
                          <a:solidFill>
                            <a:srgbClr val="1F1F1F"/>
                          </a:solidFill>
                          <a:effectLst/>
                        </a:rPr>
                        <a:t>Vertical (limitada ao poder do servidor)</a:t>
                      </a:r>
                      <a:endParaRPr lang="pt-BR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2307066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b="1">
                          <a:solidFill>
                            <a:srgbClr val="1F1F1F"/>
                          </a:solidFill>
                          <a:effectLst/>
                        </a:rPr>
                        <a:t>Principais Usos</a:t>
                      </a:r>
                      <a:endParaRPr lang="pt-BR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Big Data, Streaming, Machine Learning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>
                          <a:solidFill>
                            <a:srgbClr val="1F1F1F"/>
                          </a:solidFill>
                          <a:effectLst/>
                        </a:rPr>
                        <a:t>BI Tradicional, Data Migrations locais</a:t>
                      </a:r>
                      <a:endParaRPr lang="pt-BR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219280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b="1">
                          <a:solidFill>
                            <a:srgbClr val="1F1F1F"/>
                          </a:solidFill>
                          <a:effectLst/>
                        </a:rPr>
                        <a:t>Fatia de Mercado</a:t>
                      </a:r>
                      <a:endParaRPr lang="pt-BR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>
                          <a:solidFill>
                            <a:srgbClr val="1F1F1F"/>
                          </a:solidFill>
                          <a:effectLst/>
                        </a:rPr>
                        <a:t>Líder em Cloud (Databricks, AWS, GCP)</a:t>
                      </a:r>
                      <a:endParaRPr lang="pt-BR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>
                          <a:solidFill>
                            <a:srgbClr val="1F1F1F"/>
                          </a:solidFill>
                          <a:effectLst/>
                        </a:rPr>
                        <a:t>Consolidado em empresas com stacks Java</a:t>
                      </a:r>
                      <a:endParaRPr lang="pt-BR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3161417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b="1">
                          <a:solidFill>
                            <a:srgbClr val="1F1F1F"/>
                          </a:solidFill>
                          <a:effectLst/>
                        </a:rPr>
                        <a:t>Ecossistema</a:t>
                      </a:r>
                      <a:endParaRPr lang="pt-BR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>
                          <a:solidFill>
                            <a:srgbClr val="1F1F1F"/>
                          </a:solidFill>
                          <a:effectLst/>
                        </a:rPr>
                        <a:t>Nativo para Cloud e Data Lakes</a:t>
                      </a:r>
                      <a:endParaRPr lang="pt-BR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dirty="0">
                          <a:solidFill>
                            <a:srgbClr val="1F1F1F"/>
                          </a:solidFill>
                          <a:effectLst/>
                        </a:rPr>
                        <a:t>Nativo para </a:t>
                      </a:r>
                      <a:r>
                        <a:rPr lang="pt-BR" dirty="0" err="1">
                          <a:solidFill>
                            <a:srgbClr val="1F1F1F"/>
                          </a:solidFill>
                          <a:effectLst/>
                        </a:rPr>
                        <a:t>On-premise</a:t>
                      </a:r>
                      <a:endParaRPr lang="pt-BR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3666294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6648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4DF8B-1A4A-6DBA-3CDE-1A33E7B49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DC99B33-018F-BF1A-633E-78470B85BA9E}"/>
              </a:ext>
            </a:extLst>
          </p:cNvPr>
          <p:cNvSpPr txBox="1">
            <a:spLocks/>
          </p:cNvSpPr>
          <p:nvPr/>
        </p:nvSpPr>
        <p:spPr>
          <a:xfrm>
            <a:off x="49452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698A8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2800" dirty="0"/>
              <a:t>VANTAGENS, DIFICULDADES E CUSTOS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70D1914-D19B-4934-C6B1-2159572612A4}"/>
              </a:ext>
            </a:extLst>
          </p:cNvPr>
          <p:cNvSpPr txBox="1"/>
          <p:nvPr/>
        </p:nvSpPr>
        <p:spPr>
          <a:xfrm>
            <a:off x="494521" y="1699337"/>
            <a:ext cx="1119603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b="1"/>
            </a:lvl1pPr>
            <a:lvl2pPr lvl="1">
              <a:defRPr/>
            </a:lvl2pPr>
          </a:lstStyle>
          <a:p>
            <a:r>
              <a:rPr lang="pt-BR" dirty="0"/>
              <a:t>Apache Spark:</a:t>
            </a:r>
          </a:p>
          <a:p>
            <a:endParaRPr lang="pt-BR" b="0" dirty="0"/>
          </a:p>
          <a:p>
            <a:r>
              <a:rPr lang="pt-BR" dirty="0"/>
              <a:t>Vantagens:</a:t>
            </a:r>
            <a:r>
              <a:rPr lang="pt-BR" b="0" dirty="0"/>
              <a:t> Velocidade extrema (</a:t>
            </a:r>
            <a:r>
              <a:rPr lang="pt-BR" b="0" dirty="0" err="1"/>
              <a:t>In-memory</a:t>
            </a:r>
            <a:r>
              <a:rPr lang="pt-BR" b="0" dirty="0"/>
              <a:t>); suporta Python, Scala e SQL; processa dados não estruturados.</a:t>
            </a:r>
          </a:p>
          <a:p>
            <a:r>
              <a:rPr lang="pt-BR" dirty="0"/>
              <a:t>Dificuldade:</a:t>
            </a:r>
            <a:r>
              <a:rPr lang="pt-BR" b="0" dirty="0"/>
              <a:t> Curva de aprendizado técnica alta; complexidade para gerenciar memória e clusters.</a:t>
            </a:r>
          </a:p>
          <a:p>
            <a:endParaRPr lang="pt-BR" dirty="0"/>
          </a:p>
          <a:p>
            <a:r>
              <a:rPr lang="pt-BR" dirty="0" err="1"/>
              <a:t>Pentaho</a:t>
            </a:r>
            <a:r>
              <a:rPr lang="pt-BR" dirty="0"/>
              <a:t>:</a:t>
            </a:r>
          </a:p>
          <a:p>
            <a:endParaRPr lang="pt-BR" dirty="0"/>
          </a:p>
          <a:p>
            <a:r>
              <a:rPr lang="pt-BR" dirty="0"/>
              <a:t>Vantagens:</a:t>
            </a:r>
            <a:r>
              <a:rPr lang="pt-BR" b="0" dirty="0"/>
              <a:t> Baixa curva de aprendizado inicial; visualização clara do fluxo de dados; ótima documentação comunitária.</a:t>
            </a:r>
          </a:p>
          <a:p>
            <a:r>
              <a:rPr lang="pt-BR" dirty="0"/>
              <a:t>Dificuldade:</a:t>
            </a:r>
            <a:r>
              <a:rPr lang="pt-BR" b="0" dirty="0"/>
              <a:t> Limitação de processamento em volumes massivos (</a:t>
            </a:r>
            <a:r>
              <a:rPr lang="pt-BR" b="0" dirty="0" err="1"/>
              <a:t>Petabytes</a:t>
            </a:r>
            <a:r>
              <a:rPr lang="pt-BR" b="0" dirty="0"/>
              <a:t>); depende de Java.</a:t>
            </a:r>
          </a:p>
          <a:p>
            <a:endParaRPr lang="pt-BR" dirty="0"/>
          </a:p>
          <a:p>
            <a:r>
              <a:rPr lang="pt-BR" dirty="0"/>
              <a:t>Custos:</a:t>
            </a:r>
          </a:p>
          <a:p>
            <a:endParaRPr lang="pt-BR" dirty="0"/>
          </a:p>
          <a:p>
            <a:r>
              <a:rPr lang="pt-BR" dirty="0"/>
              <a:t>Spark:</a:t>
            </a:r>
            <a:r>
              <a:rPr lang="pt-BR" b="0" dirty="0"/>
              <a:t> Open </a:t>
            </a:r>
            <a:r>
              <a:rPr lang="pt-BR" b="0" dirty="0" err="1"/>
              <a:t>Source</a:t>
            </a:r>
            <a:r>
              <a:rPr lang="pt-BR" b="0" dirty="0"/>
              <a:t>, mas gera custos de infraestrutura de nuvem.</a:t>
            </a:r>
          </a:p>
          <a:p>
            <a:r>
              <a:rPr lang="pt-BR" dirty="0" err="1"/>
              <a:t>Pentaho</a:t>
            </a:r>
            <a:r>
              <a:rPr lang="pt-BR" dirty="0"/>
              <a:t>:</a:t>
            </a:r>
            <a:r>
              <a:rPr lang="pt-BR" b="0" dirty="0"/>
              <a:t> Possui versão Community (Grátis) e Enterprise (Suporte pago).</a:t>
            </a:r>
          </a:p>
        </p:txBody>
      </p:sp>
    </p:spTree>
    <p:extLst>
      <p:ext uri="{BB962C8B-B14F-4D97-AF65-F5344CB8AC3E}">
        <p14:creationId xmlns:p14="http://schemas.microsoft.com/office/powerpoint/2010/main" val="819667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71126-FE9A-4E90-2990-4FCB138E7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0D996280-C5C5-76D0-DC18-EEE4354F8161}"/>
              </a:ext>
            </a:extLst>
          </p:cNvPr>
          <p:cNvSpPr txBox="1"/>
          <p:nvPr/>
        </p:nvSpPr>
        <p:spPr>
          <a:xfrm>
            <a:off x="494522" y="2377872"/>
            <a:ext cx="103701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pt-BR" b="1" dirty="0"/>
              <a:t>O Negócio:</a:t>
            </a:r>
          </a:p>
          <a:p>
            <a:pPr fontAlgn="base"/>
            <a:r>
              <a:rPr lang="pt-BR" dirty="0"/>
              <a:t>Startup de e-commerce em rápido crescimento.</a:t>
            </a:r>
          </a:p>
          <a:p>
            <a:pPr fontAlgn="base"/>
            <a:endParaRPr lang="pt-BR" dirty="0"/>
          </a:p>
          <a:p>
            <a:pPr fontAlgn="base"/>
            <a:r>
              <a:rPr lang="pt-BR" b="1" dirty="0"/>
              <a:t>O Problema (Silos de Dados):</a:t>
            </a:r>
            <a:endParaRPr lang="pt-BR" dirty="0"/>
          </a:p>
          <a:p>
            <a:pPr fontAlgn="base"/>
            <a:r>
              <a:rPr lang="pt-BR" dirty="0"/>
              <a:t>Vendas estruturadas presas no SQL Server local (</a:t>
            </a:r>
            <a:r>
              <a:rPr lang="pt-BR" dirty="0" err="1"/>
              <a:t>On-Premise</a:t>
            </a:r>
            <a:r>
              <a:rPr lang="pt-BR" dirty="0"/>
              <a:t>).</a:t>
            </a:r>
          </a:p>
          <a:p>
            <a:pPr fontAlgn="base"/>
            <a:r>
              <a:rPr lang="pt-BR" dirty="0"/>
              <a:t>Logs de navegação não estruturados gerados via API em tempo real.</a:t>
            </a:r>
          </a:p>
          <a:p>
            <a:pPr fontAlgn="base"/>
            <a:endParaRPr lang="pt-BR" b="1" dirty="0"/>
          </a:p>
          <a:p>
            <a:pPr fontAlgn="base"/>
            <a:r>
              <a:rPr lang="pt-BR" b="1" dirty="0"/>
              <a:t>Objetivo do Projeto:</a:t>
            </a:r>
            <a:r>
              <a:rPr lang="pt-BR" dirty="0"/>
              <a:t> Integrar os mundos relacional e comportamental para gerar insights de marketing.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BEE391F-1DC0-4CC2-C5A1-1DC56EF33F7A}"/>
              </a:ext>
            </a:extLst>
          </p:cNvPr>
          <p:cNvSpPr txBox="1">
            <a:spLocks/>
          </p:cNvSpPr>
          <p:nvPr/>
        </p:nvSpPr>
        <p:spPr>
          <a:xfrm>
            <a:off x="49452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698A8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2800" dirty="0"/>
              <a:t>CENÁRIO</a:t>
            </a:r>
          </a:p>
        </p:txBody>
      </p:sp>
    </p:spTree>
    <p:extLst>
      <p:ext uri="{BB962C8B-B14F-4D97-AF65-F5344CB8AC3E}">
        <p14:creationId xmlns:p14="http://schemas.microsoft.com/office/powerpoint/2010/main" val="522996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282B5-9777-3369-DE5C-9F9037FE1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537D6C0E-B8D9-308E-B37C-65026F79AE36}"/>
              </a:ext>
            </a:extLst>
          </p:cNvPr>
          <p:cNvSpPr txBox="1"/>
          <p:nvPr/>
        </p:nvSpPr>
        <p:spPr>
          <a:xfrm>
            <a:off x="494522" y="2413410"/>
            <a:ext cx="70566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pt-BR" b="1" dirty="0"/>
              <a:t>Camada Bronze:</a:t>
            </a:r>
          </a:p>
          <a:p>
            <a:pPr fontAlgn="base"/>
            <a:r>
              <a:rPr lang="pt-BR" dirty="0"/>
              <a:t>Extração do SQL Server e Landing Zone via Google </a:t>
            </a:r>
            <a:r>
              <a:rPr lang="pt-BR" dirty="0" err="1"/>
              <a:t>Sheets</a:t>
            </a:r>
            <a:r>
              <a:rPr lang="pt-BR" dirty="0"/>
              <a:t>.</a:t>
            </a:r>
          </a:p>
          <a:p>
            <a:pPr fontAlgn="base"/>
            <a:endParaRPr lang="pt-BR" b="1" dirty="0"/>
          </a:p>
          <a:p>
            <a:pPr fontAlgn="base"/>
            <a:r>
              <a:rPr lang="pt-BR" b="1" dirty="0"/>
              <a:t>Camada Silver:</a:t>
            </a:r>
          </a:p>
          <a:p>
            <a:pPr fontAlgn="base"/>
            <a:r>
              <a:rPr lang="pt-BR" dirty="0"/>
              <a:t>Limpeza, padronização e anonimização de dados (LGPD).</a:t>
            </a:r>
          </a:p>
          <a:p>
            <a:pPr fontAlgn="base"/>
            <a:endParaRPr lang="pt-BR" b="1" dirty="0"/>
          </a:p>
          <a:p>
            <a:pPr fontAlgn="base"/>
            <a:r>
              <a:rPr lang="pt-BR" b="1" dirty="0"/>
              <a:t>Camada Gold:</a:t>
            </a:r>
          </a:p>
          <a:p>
            <a:pPr fontAlgn="base"/>
            <a:r>
              <a:rPr lang="pt-BR" dirty="0"/>
              <a:t>Geração de tabelas de insight utilizando o motor Apache Spark.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CE6192F-3C33-575B-AA39-E3260CF12CC4}"/>
              </a:ext>
            </a:extLst>
          </p:cNvPr>
          <p:cNvSpPr txBox="1">
            <a:spLocks/>
          </p:cNvSpPr>
          <p:nvPr/>
        </p:nvSpPr>
        <p:spPr>
          <a:xfrm>
            <a:off x="49452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698A8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2800" dirty="0"/>
              <a:t>ARQUITETURA MEDALHÃO</a:t>
            </a:r>
          </a:p>
        </p:txBody>
      </p:sp>
    </p:spTree>
    <p:extLst>
      <p:ext uri="{BB962C8B-B14F-4D97-AF65-F5344CB8AC3E}">
        <p14:creationId xmlns:p14="http://schemas.microsoft.com/office/powerpoint/2010/main" val="397218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EF6FD-3C72-ACEF-2FE5-B20AA3AC4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81D25EF9-30D8-3E35-9C9E-2A87D99C7B31}"/>
              </a:ext>
            </a:extLst>
          </p:cNvPr>
          <p:cNvSpPr txBox="1"/>
          <p:nvPr/>
        </p:nvSpPr>
        <p:spPr>
          <a:xfrm>
            <a:off x="494522" y="2447414"/>
            <a:ext cx="892478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pt-BR" b="1" dirty="0"/>
              <a:t>ETL (SQL &gt; Nuvem):</a:t>
            </a:r>
          </a:p>
          <a:p>
            <a:pPr fontAlgn="base"/>
            <a:r>
              <a:rPr lang="pt-BR" dirty="0"/>
              <a:t>Python para migração do legado.</a:t>
            </a:r>
          </a:p>
          <a:p>
            <a:pPr fontAlgn="base"/>
            <a:endParaRPr lang="pt-BR" b="1" dirty="0"/>
          </a:p>
          <a:p>
            <a:pPr fontAlgn="base"/>
            <a:r>
              <a:rPr lang="pt-BR" b="1" dirty="0"/>
              <a:t>ELT (Logs &gt; Nuvem):</a:t>
            </a:r>
          </a:p>
          <a:p>
            <a:pPr fontAlgn="base"/>
            <a:r>
              <a:rPr lang="pt-BR" dirty="0"/>
              <a:t>Observação: O </a:t>
            </a:r>
            <a:r>
              <a:rPr lang="pt-BR" dirty="0" err="1"/>
              <a:t>BigQuery</a:t>
            </a:r>
            <a:r>
              <a:rPr lang="pt-BR" dirty="0"/>
              <a:t> acessa o </a:t>
            </a:r>
            <a:r>
              <a:rPr lang="pt-BR" dirty="0" err="1"/>
              <a:t>Sheets</a:t>
            </a:r>
            <a:r>
              <a:rPr lang="pt-BR" dirty="0"/>
              <a:t> como </a:t>
            </a:r>
            <a:r>
              <a:rPr lang="pt-BR" dirty="0" err="1"/>
              <a:t>External</a:t>
            </a:r>
            <a:r>
              <a:rPr lang="pt-BR" dirty="0"/>
              <a:t> </a:t>
            </a:r>
            <a:r>
              <a:rPr lang="pt-BR" dirty="0" err="1"/>
              <a:t>Table</a:t>
            </a:r>
            <a:r>
              <a:rPr lang="pt-BR" dirty="0"/>
              <a:t>, permitindo o desenvolvimento do projeto sem a necessidade de faturamento/cartão de crédito (</a:t>
            </a:r>
            <a:r>
              <a:rPr lang="pt-BR" dirty="0" err="1"/>
              <a:t>Billing</a:t>
            </a:r>
            <a:r>
              <a:rPr lang="pt-BR" dirty="0"/>
              <a:t> Free). Simulando o input de logs no </a:t>
            </a:r>
            <a:r>
              <a:rPr lang="pt-BR" dirty="0" err="1"/>
              <a:t>BigQuery</a:t>
            </a:r>
            <a:r>
              <a:rPr lang="pt-BR" dirty="0"/>
              <a:t> diretamente.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285D4C6-CF93-127F-33EB-796061D0E7D4}"/>
              </a:ext>
            </a:extLst>
          </p:cNvPr>
          <p:cNvSpPr txBox="1">
            <a:spLocks/>
          </p:cNvSpPr>
          <p:nvPr/>
        </p:nvSpPr>
        <p:spPr>
          <a:xfrm>
            <a:off x="49452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698A8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2800" dirty="0"/>
              <a:t>INGESTÃO ETL/ELT (CAMADA BRONZE)</a:t>
            </a:r>
          </a:p>
        </p:txBody>
      </p:sp>
    </p:spTree>
    <p:extLst>
      <p:ext uri="{BB962C8B-B14F-4D97-AF65-F5344CB8AC3E}">
        <p14:creationId xmlns:p14="http://schemas.microsoft.com/office/powerpoint/2010/main" val="2007833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D7C81-72BF-CDDF-7B6A-30FF3E3A5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C27D8834-9682-8472-B383-8727B1210007}"/>
              </a:ext>
            </a:extLst>
          </p:cNvPr>
          <p:cNvSpPr txBox="1"/>
          <p:nvPr/>
        </p:nvSpPr>
        <p:spPr>
          <a:xfrm>
            <a:off x="494522" y="2551837"/>
            <a:ext cx="72532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pt-BR" b="1" dirty="0"/>
              <a:t>Tratamento de Dados e Privacidade:</a:t>
            </a:r>
          </a:p>
          <a:p>
            <a:pPr fontAlgn="base"/>
            <a:r>
              <a:rPr lang="pt-BR" dirty="0"/>
              <a:t>Aplicação de técnica de anonimização (</a:t>
            </a:r>
            <a:r>
              <a:rPr lang="pt-BR" dirty="0" err="1"/>
              <a:t>FirstName</a:t>
            </a:r>
            <a:r>
              <a:rPr lang="pt-BR" dirty="0"/>
              <a:t> + inicial do </a:t>
            </a:r>
            <a:r>
              <a:rPr lang="pt-BR" dirty="0" err="1"/>
              <a:t>LastName</a:t>
            </a:r>
            <a:r>
              <a:rPr lang="pt-BR" dirty="0"/>
              <a:t>) diretamente no script de carga.</a:t>
            </a:r>
          </a:p>
          <a:p>
            <a:pPr fontAlgn="base"/>
            <a:endParaRPr lang="pt-BR" b="1" dirty="0"/>
          </a:p>
          <a:p>
            <a:pPr fontAlgn="base"/>
            <a:r>
              <a:rPr lang="pt-BR" b="1" dirty="0"/>
              <a:t>Resultado:</a:t>
            </a:r>
          </a:p>
          <a:p>
            <a:pPr fontAlgn="base"/>
            <a:r>
              <a:rPr lang="pt-BR" dirty="0"/>
              <a:t>Dados em conformidade com a LGPD antes de serem cruzados na camada final de inteligência.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B822B90-4842-A247-5CAA-47F5C2984475}"/>
              </a:ext>
            </a:extLst>
          </p:cNvPr>
          <p:cNvSpPr txBox="1">
            <a:spLocks/>
          </p:cNvSpPr>
          <p:nvPr/>
        </p:nvSpPr>
        <p:spPr>
          <a:xfrm>
            <a:off x="49452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698A8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2800" dirty="0"/>
              <a:t>CONFORMIDADE LGPD (CAMADA SILVER)</a:t>
            </a:r>
          </a:p>
        </p:txBody>
      </p:sp>
    </p:spTree>
    <p:extLst>
      <p:ext uri="{BB962C8B-B14F-4D97-AF65-F5344CB8AC3E}">
        <p14:creationId xmlns:p14="http://schemas.microsoft.com/office/powerpoint/2010/main" val="4265607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732DF-F7FA-516B-660A-DD980C337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ACABC6D5-B44D-D891-DAB9-4C31CA7A3255}"/>
              </a:ext>
            </a:extLst>
          </p:cNvPr>
          <p:cNvSpPr txBox="1"/>
          <p:nvPr/>
        </p:nvSpPr>
        <p:spPr>
          <a:xfrm>
            <a:off x="494522" y="2280266"/>
            <a:ext cx="771541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pt-BR" b="1" dirty="0"/>
              <a:t>Tecnologia: Apache Spark (</a:t>
            </a:r>
            <a:r>
              <a:rPr lang="pt-BR" b="1" dirty="0" err="1"/>
              <a:t>PySpark</a:t>
            </a:r>
            <a:r>
              <a:rPr lang="pt-BR" b="1" dirty="0"/>
              <a:t>).</a:t>
            </a:r>
          </a:p>
          <a:p>
            <a:pPr fontAlgn="base"/>
            <a:endParaRPr lang="pt-BR" b="1" dirty="0"/>
          </a:p>
          <a:p>
            <a:pPr fontAlgn="base"/>
            <a:r>
              <a:rPr lang="pt-BR" b="1" dirty="0"/>
              <a:t>Implementação:</a:t>
            </a:r>
          </a:p>
          <a:p>
            <a:pPr fontAlgn="base"/>
            <a:r>
              <a:rPr lang="pt-BR" dirty="0"/>
              <a:t>Uso de </a:t>
            </a:r>
            <a:r>
              <a:rPr lang="pt-BR" dirty="0" err="1"/>
              <a:t>Left</a:t>
            </a:r>
            <a:r>
              <a:rPr lang="pt-BR" dirty="0"/>
              <a:t> Semi Join para garantir a integridade referencial entre os cliques na web e o catálogo de produtos oficial.</a:t>
            </a:r>
          </a:p>
          <a:p>
            <a:pPr fontAlgn="base"/>
            <a:endParaRPr lang="pt-BR" dirty="0"/>
          </a:p>
          <a:p>
            <a:pPr fontAlgn="base"/>
            <a:r>
              <a:rPr lang="pt-BR" b="1" dirty="0"/>
              <a:t>Justificativa da Escolha:</a:t>
            </a:r>
          </a:p>
          <a:p>
            <a:pPr fontAlgn="base"/>
            <a:r>
              <a:rPr lang="pt-BR" dirty="0"/>
              <a:t>O Spark permite que este pipeline processe milhões de eventos de log por segundo com latência mínima, preparando o e-commerce para escalas globais.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F7C537D-FE2C-632E-E003-6BBAC0AA267D}"/>
              </a:ext>
            </a:extLst>
          </p:cNvPr>
          <p:cNvSpPr txBox="1">
            <a:spLocks/>
          </p:cNvSpPr>
          <p:nvPr/>
        </p:nvSpPr>
        <p:spPr>
          <a:xfrm>
            <a:off x="49452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698A8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2800" dirty="0"/>
              <a:t>INTELIGÊNCIA E ESCALA (CAMADA GOLD)</a:t>
            </a:r>
          </a:p>
        </p:txBody>
      </p:sp>
    </p:spTree>
    <p:extLst>
      <p:ext uri="{BB962C8B-B14F-4D97-AF65-F5344CB8AC3E}">
        <p14:creationId xmlns:p14="http://schemas.microsoft.com/office/powerpoint/2010/main" val="4103346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3C62D-5C67-F192-2204-77A2B027F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089D928-BA59-D0EF-006F-0FD77A8A40F5}"/>
              </a:ext>
            </a:extLst>
          </p:cNvPr>
          <p:cNvSpPr txBox="1"/>
          <p:nvPr/>
        </p:nvSpPr>
        <p:spPr>
          <a:xfrm>
            <a:off x="494522" y="2280266"/>
            <a:ext cx="819719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pt-BR" b="1" dirty="0" err="1"/>
              <a:t>Findable</a:t>
            </a:r>
            <a:r>
              <a:rPr lang="pt-BR" b="1" dirty="0"/>
              <a:t> &amp; </a:t>
            </a:r>
            <a:r>
              <a:rPr lang="pt-BR" b="1" dirty="0" err="1"/>
              <a:t>Accessible</a:t>
            </a:r>
            <a:r>
              <a:rPr lang="pt-BR" b="1" dirty="0"/>
              <a:t>:</a:t>
            </a:r>
          </a:p>
          <a:p>
            <a:pPr fontAlgn="base"/>
            <a:r>
              <a:rPr lang="pt-BR" dirty="0"/>
              <a:t>Dados organizados no </a:t>
            </a:r>
            <a:r>
              <a:rPr lang="pt-BR" dirty="0" err="1"/>
              <a:t>BigQuery</a:t>
            </a:r>
            <a:r>
              <a:rPr lang="pt-BR" dirty="0"/>
              <a:t> para fácil localização.</a:t>
            </a:r>
          </a:p>
          <a:p>
            <a:pPr fontAlgn="base"/>
            <a:endParaRPr lang="pt-BR" b="1" dirty="0"/>
          </a:p>
          <a:p>
            <a:pPr fontAlgn="base"/>
            <a:r>
              <a:rPr lang="pt-BR" b="1" dirty="0" err="1"/>
              <a:t>Interoperable</a:t>
            </a:r>
            <a:r>
              <a:rPr lang="pt-BR" b="1" dirty="0"/>
              <a:t> &amp; </a:t>
            </a:r>
            <a:r>
              <a:rPr lang="pt-BR" b="1" dirty="0" err="1"/>
              <a:t>Reusable</a:t>
            </a:r>
            <a:r>
              <a:rPr lang="pt-BR" b="1" dirty="0"/>
              <a:t>:</a:t>
            </a:r>
          </a:p>
          <a:p>
            <a:pPr fontAlgn="base"/>
            <a:r>
              <a:rPr lang="pt-BR" dirty="0"/>
              <a:t>Dados transformados via Spark que podem ser lidos por qualquer ferramenta de BI.</a:t>
            </a:r>
          </a:p>
          <a:p>
            <a:pPr fontAlgn="base"/>
            <a:endParaRPr lang="pt-BR" b="1" dirty="0"/>
          </a:p>
          <a:p>
            <a:pPr fontAlgn="base"/>
            <a:r>
              <a:rPr lang="pt-BR" b="1" dirty="0"/>
              <a:t>Visão 360º:</a:t>
            </a:r>
          </a:p>
          <a:p>
            <a:pPr fontAlgn="base"/>
            <a:r>
              <a:rPr lang="pt-BR" dirty="0"/>
              <a:t>Cruzamento da intenção de compra (Web) com a venda efetivada (ERP).</a:t>
            </a:r>
          </a:p>
          <a:p>
            <a:pPr fontAlgn="base"/>
            <a:endParaRPr lang="pt-BR" dirty="0"/>
          </a:p>
          <a:p>
            <a:pPr fontAlgn="base"/>
            <a:r>
              <a:rPr lang="pt-BR" b="1" dirty="0"/>
              <a:t>Repositório GitHub:</a:t>
            </a:r>
          </a:p>
          <a:p>
            <a:pPr fontAlgn="base"/>
            <a:r>
              <a:rPr lang="pt-BR" dirty="0"/>
              <a:t>https://github.com/felipencruz/data-preparation-pipeline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52843EF-873B-9463-B777-411896B51275}"/>
              </a:ext>
            </a:extLst>
          </p:cNvPr>
          <p:cNvSpPr txBox="1">
            <a:spLocks/>
          </p:cNvSpPr>
          <p:nvPr/>
        </p:nvSpPr>
        <p:spPr>
          <a:xfrm>
            <a:off x="49452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698A8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2800" dirty="0"/>
              <a:t>PRINCÍPIOS FAIR E VALOR DE NEGÓCIO</a:t>
            </a:r>
          </a:p>
        </p:txBody>
      </p:sp>
    </p:spTree>
    <p:extLst>
      <p:ext uri="{BB962C8B-B14F-4D97-AF65-F5344CB8AC3E}">
        <p14:creationId xmlns:p14="http://schemas.microsoft.com/office/powerpoint/2010/main" val="351910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1DC13-D482-1AA6-4D69-DFA208F2D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59EA1F97-3EDB-5F97-2DF7-2A48B6DEB796}"/>
              </a:ext>
            </a:extLst>
          </p:cNvPr>
          <p:cNvSpPr txBox="1"/>
          <p:nvPr/>
        </p:nvSpPr>
        <p:spPr>
          <a:xfrm>
            <a:off x="494522" y="2690336"/>
            <a:ext cx="10515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pt-BR" b="1" dirty="0"/>
              <a:t>O Apache Spark foi escolhido como ferramenta ideal para a etapa de inteligência (Gold) devido à sua capacidade de processamento distribuído.</a:t>
            </a:r>
          </a:p>
          <a:p>
            <a:pPr fontAlgn="base"/>
            <a:endParaRPr lang="pt-BR" b="1" dirty="0"/>
          </a:p>
          <a:p>
            <a:pPr fontAlgn="base"/>
            <a:r>
              <a:rPr lang="pt-BR" b="1" dirty="0"/>
              <a:t>A combinação de automações, economia (</a:t>
            </a:r>
            <a:r>
              <a:rPr lang="pt-BR" b="1" dirty="0" err="1"/>
              <a:t>FinOps</a:t>
            </a:r>
            <a:r>
              <a:rPr lang="pt-BR" b="1" dirty="0"/>
              <a:t>) e escala (Spark) resultou em um pipeline de Data </a:t>
            </a:r>
            <a:r>
              <a:rPr lang="pt-BR" b="1" dirty="0" err="1"/>
              <a:t>Preparation</a:t>
            </a:r>
            <a:r>
              <a:rPr lang="pt-BR" b="1" dirty="0"/>
              <a:t> eficiente para o projeto.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E7412FA-EB3B-AE5B-9217-79C1FD28D69B}"/>
              </a:ext>
            </a:extLst>
          </p:cNvPr>
          <p:cNvSpPr txBox="1">
            <a:spLocks/>
          </p:cNvSpPr>
          <p:nvPr/>
        </p:nvSpPr>
        <p:spPr>
          <a:xfrm>
            <a:off x="49452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698A8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2800" dirty="0"/>
              <a:t>CONCLUSÃO</a:t>
            </a:r>
          </a:p>
        </p:txBody>
      </p:sp>
    </p:spTree>
    <p:extLst>
      <p:ext uri="{BB962C8B-B14F-4D97-AF65-F5344CB8AC3E}">
        <p14:creationId xmlns:p14="http://schemas.microsoft.com/office/powerpoint/2010/main" val="3947553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8C66E-9D52-263B-F7DF-180EC2E87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07465B13-5E5C-E1D8-E9ED-9E1559CC0DB9}"/>
              </a:ext>
            </a:extLst>
          </p:cNvPr>
          <p:cNvSpPr txBox="1"/>
          <p:nvPr/>
        </p:nvSpPr>
        <p:spPr>
          <a:xfrm>
            <a:off x="494522" y="1767006"/>
            <a:ext cx="1120295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pt-BR" sz="1400" dirty="0"/>
              <a:t>data-</a:t>
            </a:r>
            <a:r>
              <a:rPr lang="pt-BR" sz="1400" dirty="0" err="1"/>
              <a:t>preparation</a:t>
            </a:r>
            <a:r>
              <a:rPr lang="pt-BR" sz="1400" dirty="0"/>
              <a:t>-pipeline. GitHub, 2026. Disponível em: https://github.com/felipencruz/data-preparation-pipeline</a:t>
            </a:r>
          </a:p>
          <a:p>
            <a:pPr fontAlgn="base"/>
            <a:endParaRPr lang="pt-BR" sz="1400" dirty="0"/>
          </a:p>
          <a:p>
            <a:pPr fontAlgn="base"/>
            <a:r>
              <a:rPr lang="pt-BR" sz="1400" dirty="0"/>
              <a:t>GOOGLE CLOUD. </a:t>
            </a:r>
            <a:r>
              <a:rPr lang="pt-BR" sz="1400" dirty="0" err="1"/>
              <a:t>BigQuery</a:t>
            </a:r>
            <a:r>
              <a:rPr lang="pt-BR" sz="1400" dirty="0"/>
              <a:t>: </a:t>
            </a:r>
            <a:r>
              <a:rPr lang="pt-BR" sz="1400" dirty="0" err="1"/>
              <a:t>External</a:t>
            </a:r>
            <a:r>
              <a:rPr lang="pt-BR" sz="1400" dirty="0"/>
              <a:t> Data </a:t>
            </a:r>
            <a:r>
              <a:rPr lang="pt-BR" sz="1400" dirty="0" err="1"/>
              <a:t>Sources</a:t>
            </a:r>
            <a:r>
              <a:rPr lang="pt-BR" sz="1400" dirty="0"/>
              <a:t> </a:t>
            </a:r>
            <a:r>
              <a:rPr lang="pt-BR" sz="1400" dirty="0" err="1"/>
              <a:t>Documentation</a:t>
            </a:r>
            <a:r>
              <a:rPr lang="pt-BR" sz="1400" dirty="0"/>
              <a:t>.</a:t>
            </a:r>
          </a:p>
          <a:p>
            <a:pPr fontAlgn="base"/>
            <a:endParaRPr lang="pt-BR" sz="1400" dirty="0"/>
          </a:p>
          <a:p>
            <a:pPr fontAlgn="base"/>
            <a:r>
              <a:rPr lang="pt-BR" sz="1400" dirty="0"/>
              <a:t>BRASIL. Lei Geral de Proteção de Dados Pessoais (LGPD). Lei nº 13.709, de 14 de agosto de 2018.</a:t>
            </a:r>
          </a:p>
          <a:p>
            <a:pPr fontAlgn="base"/>
            <a:endParaRPr lang="pt-BR" sz="1400" dirty="0"/>
          </a:p>
          <a:p>
            <a:pPr fontAlgn="base"/>
            <a:r>
              <a:rPr lang="pt-BR" sz="1400" dirty="0"/>
              <a:t>Material de Aula: Data </a:t>
            </a:r>
            <a:r>
              <a:rPr lang="pt-BR" sz="1400" dirty="0" err="1"/>
              <a:t>Preparation</a:t>
            </a:r>
            <a:r>
              <a:rPr lang="pt-BR" sz="1400" dirty="0"/>
              <a:t>. MBA em Engenharia de Dados e Big Data, UFRJ, 2026.</a:t>
            </a:r>
          </a:p>
          <a:p>
            <a:pPr fontAlgn="base"/>
            <a:endParaRPr lang="pt-BR" sz="1400" dirty="0"/>
          </a:p>
          <a:p>
            <a:pPr fontAlgn="base"/>
            <a:r>
              <a:rPr lang="pt-BR" sz="1400" dirty="0"/>
              <a:t>DOAN, </a:t>
            </a:r>
            <a:r>
              <a:rPr lang="pt-BR" sz="1400" dirty="0" err="1"/>
              <a:t>AnHai</a:t>
            </a:r>
            <a:r>
              <a:rPr lang="pt-BR" sz="1400" dirty="0"/>
              <a:t>; HALEVY, Alon; IVES, Zachary. </a:t>
            </a:r>
            <a:r>
              <a:rPr lang="pt-BR" sz="1400" dirty="0" err="1"/>
              <a:t>Principles</a:t>
            </a:r>
            <a:r>
              <a:rPr lang="pt-BR" sz="1400" dirty="0"/>
              <a:t> </a:t>
            </a:r>
            <a:r>
              <a:rPr lang="pt-BR" sz="1400" dirty="0" err="1"/>
              <a:t>of</a:t>
            </a:r>
            <a:r>
              <a:rPr lang="pt-BR" sz="1400" dirty="0"/>
              <a:t> Data </a:t>
            </a:r>
            <a:r>
              <a:rPr lang="pt-BR" sz="1400" dirty="0" err="1"/>
              <a:t>Integration</a:t>
            </a:r>
            <a:r>
              <a:rPr lang="pt-BR" sz="1400" dirty="0"/>
              <a:t>. 1ª ed. Morgan Kaufmann, 2012.</a:t>
            </a:r>
          </a:p>
          <a:p>
            <a:pPr fontAlgn="base"/>
            <a:endParaRPr lang="pt-BR" sz="1400" dirty="0"/>
          </a:p>
          <a:p>
            <a:pPr fontAlgn="base"/>
            <a:r>
              <a:rPr lang="pt-BR" sz="1400" dirty="0"/>
              <a:t>MEADOWS, Alex; PULVIRENTI, Adrián Sergio; ROLDÁN, </a:t>
            </a:r>
            <a:r>
              <a:rPr lang="pt-BR" sz="1400" dirty="0" err="1"/>
              <a:t>María</a:t>
            </a:r>
            <a:r>
              <a:rPr lang="pt-BR" sz="1400" dirty="0"/>
              <a:t> Carina. </a:t>
            </a:r>
            <a:r>
              <a:rPr lang="pt-BR" sz="1400" dirty="0" err="1"/>
              <a:t>Pentaho</a:t>
            </a:r>
            <a:r>
              <a:rPr lang="pt-BR" sz="1400" dirty="0"/>
              <a:t> Data </a:t>
            </a:r>
            <a:r>
              <a:rPr lang="pt-BR" sz="1400" dirty="0" err="1"/>
              <a:t>Integration</a:t>
            </a:r>
            <a:r>
              <a:rPr lang="pt-BR" sz="1400" dirty="0"/>
              <a:t> </a:t>
            </a:r>
            <a:r>
              <a:rPr lang="pt-BR" sz="1400" dirty="0" err="1"/>
              <a:t>Cookbook</a:t>
            </a:r>
            <a:r>
              <a:rPr lang="pt-BR" sz="1400" dirty="0"/>
              <a:t>. 2ª ed. </a:t>
            </a:r>
            <a:r>
              <a:rPr lang="pt-BR" sz="1400" dirty="0" err="1"/>
              <a:t>Packt</a:t>
            </a:r>
            <a:r>
              <a:rPr lang="pt-BR" sz="1400" dirty="0"/>
              <a:t> </a:t>
            </a:r>
            <a:r>
              <a:rPr lang="pt-BR" sz="1400" dirty="0" err="1"/>
              <a:t>Publishing</a:t>
            </a:r>
            <a:r>
              <a:rPr lang="pt-BR" sz="1400" dirty="0"/>
              <a:t>, 2013.</a:t>
            </a:r>
          </a:p>
          <a:p>
            <a:pPr fontAlgn="base"/>
            <a:endParaRPr lang="pt-BR" sz="1400" dirty="0"/>
          </a:p>
          <a:p>
            <a:pPr fontAlgn="base"/>
            <a:r>
              <a:rPr lang="pt-BR" sz="1400" dirty="0"/>
              <a:t>ZAHARIA, Matei et al. Apache Spark: A </a:t>
            </a:r>
            <a:r>
              <a:rPr lang="pt-BR" sz="1400" dirty="0" err="1"/>
              <a:t>Unified</a:t>
            </a:r>
            <a:r>
              <a:rPr lang="pt-BR" sz="1400" dirty="0"/>
              <a:t> </a:t>
            </a:r>
            <a:r>
              <a:rPr lang="pt-BR" sz="1400" dirty="0" err="1"/>
              <a:t>Engine</a:t>
            </a:r>
            <a:r>
              <a:rPr lang="pt-BR" sz="1400" dirty="0"/>
              <a:t> for Big Data </a:t>
            </a:r>
            <a:r>
              <a:rPr lang="pt-BR" sz="1400" dirty="0" err="1"/>
              <a:t>Processing</a:t>
            </a:r>
            <a:r>
              <a:rPr lang="pt-BR" sz="1400" dirty="0"/>
              <a:t>. Communications </a:t>
            </a:r>
            <a:r>
              <a:rPr lang="pt-BR" sz="1400" dirty="0" err="1"/>
              <a:t>of</a:t>
            </a:r>
            <a:r>
              <a:rPr lang="pt-BR" sz="1400" dirty="0"/>
              <a:t> </a:t>
            </a:r>
            <a:r>
              <a:rPr lang="pt-BR" sz="1400" dirty="0" err="1"/>
              <a:t>the</a:t>
            </a:r>
            <a:r>
              <a:rPr lang="pt-BR" sz="1400" dirty="0"/>
              <a:t> ACM, 2016.</a:t>
            </a:r>
          </a:p>
          <a:p>
            <a:pPr fontAlgn="base"/>
            <a:endParaRPr lang="pt-BR" sz="1400" dirty="0"/>
          </a:p>
          <a:p>
            <a:pPr fontAlgn="base"/>
            <a:r>
              <a:rPr lang="pt-BR" sz="1400" dirty="0"/>
              <a:t>WILKINSON, M. D. et al. The FAIR </a:t>
            </a:r>
            <a:r>
              <a:rPr lang="pt-BR" sz="1400" dirty="0" err="1"/>
              <a:t>Guiding</a:t>
            </a:r>
            <a:r>
              <a:rPr lang="pt-BR" sz="1400" dirty="0"/>
              <a:t> </a:t>
            </a:r>
            <a:r>
              <a:rPr lang="pt-BR" sz="1400" dirty="0" err="1"/>
              <a:t>Principles</a:t>
            </a:r>
            <a:r>
              <a:rPr lang="pt-BR" sz="1400" dirty="0"/>
              <a:t> for </a:t>
            </a:r>
            <a:r>
              <a:rPr lang="pt-BR" sz="1400" dirty="0" err="1"/>
              <a:t>scientific</a:t>
            </a:r>
            <a:r>
              <a:rPr lang="pt-BR" sz="1400" dirty="0"/>
              <a:t> data management </a:t>
            </a:r>
            <a:r>
              <a:rPr lang="pt-BR" sz="1400" dirty="0" err="1"/>
              <a:t>and</a:t>
            </a:r>
            <a:r>
              <a:rPr lang="pt-BR" sz="1400" dirty="0"/>
              <a:t> </a:t>
            </a:r>
            <a:r>
              <a:rPr lang="pt-BR" sz="1400" dirty="0" err="1"/>
              <a:t>stewardship</a:t>
            </a:r>
            <a:r>
              <a:rPr lang="pt-BR" sz="1400" dirty="0"/>
              <a:t>. </a:t>
            </a:r>
            <a:r>
              <a:rPr lang="pt-BR" sz="1400" dirty="0" err="1"/>
              <a:t>Scientific</a:t>
            </a:r>
            <a:r>
              <a:rPr lang="pt-BR" sz="1400" dirty="0"/>
              <a:t> Data, v. 3, 2016.</a:t>
            </a:r>
          </a:p>
          <a:p>
            <a:pPr fontAlgn="base"/>
            <a:endParaRPr lang="pt-BR" sz="1400" dirty="0"/>
          </a:p>
          <a:p>
            <a:pPr fontAlgn="base"/>
            <a:r>
              <a:rPr lang="pt-BR" sz="1400" dirty="0"/>
              <a:t>DATABRICKS. </a:t>
            </a:r>
            <a:r>
              <a:rPr lang="pt-BR" sz="1400" dirty="0" err="1"/>
              <a:t>What</a:t>
            </a:r>
            <a:r>
              <a:rPr lang="pt-BR" sz="1400" dirty="0"/>
              <a:t> </a:t>
            </a:r>
            <a:r>
              <a:rPr lang="pt-BR" sz="1400" dirty="0" err="1"/>
              <a:t>is</a:t>
            </a:r>
            <a:r>
              <a:rPr lang="pt-BR" sz="1400" dirty="0"/>
              <a:t> </a:t>
            </a:r>
            <a:r>
              <a:rPr lang="pt-BR" sz="1400" dirty="0" err="1"/>
              <a:t>the</a:t>
            </a:r>
            <a:r>
              <a:rPr lang="pt-BR" sz="1400" dirty="0"/>
              <a:t> </a:t>
            </a:r>
            <a:r>
              <a:rPr lang="pt-BR" sz="1400" dirty="0" err="1"/>
              <a:t>Medallion</a:t>
            </a:r>
            <a:r>
              <a:rPr lang="pt-BR" sz="1400" dirty="0"/>
              <a:t> </a:t>
            </a:r>
            <a:r>
              <a:rPr lang="pt-BR" sz="1400" dirty="0" err="1"/>
              <a:t>Architecture</a:t>
            </a:r>
            <a:r>
              <a:rPr lang="pt-BR" sz="1400" dirty="0"/>
              <a:t>? Disponível em: databricks.com.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B7575EA-1AC2-086E-72B3-B24240EF6910}"/>
              </a:ext>
            </a:extLst>
          </p:cNvPr>
          <p:cNvSpPr txBox="1">
            <a:spLocks/>
          </p:cNvSpPr>
          <p:nvPr/>
        </p:nvSpPr>
        <p:spPr>
          <a:xfrm>
            <a:off x="49452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698A8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sz="2800" dirty="0"/>
              <a:t>REFERÊNCIAS</a:t>
            </a:r>
          </a:p>
        </p:txBody>
      </p:sp>
    </p:spTree>
    <p:extLst>
      <p:ext uri="{BB962C8B-B14F-4D97-AF65-F5344CB8AC3E}">
        <p14:creationId xmlns:p14="http://schemas.microsoft.com/office/powerpoint/2010/main" val="42702622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oApresentacao_itlab" id="{9DB20FE5-5E3A-3443-BD46-35E3D3CCCC95}" vid="{5BA1565E-3231-924E-BE6C-06CC142726FC}"/>
    </a:ext>
  </a:extLst>
</a:theme>
</file>

<file path=ppt/theme/theme2.xml><?xml version="1.0" encoding="utf-8"?>
<a:theme xmlns:a="http://schemas.openxmlformats.org/drawingml/2006/main" name="1_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oApresentacao_itlab" id="{9DB20FE5-5E3A-3443-BD46-35E3D3CCCC95}" vid="{550389A1-4E1B-F145-B25C-F0F696CDB2C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</TotalTime>
  <Words>934</Words>
  <Application>Microsoft Office PowerPoint</Application>
  <PresentationFormat>Widescreen</PresentationFormat>
  <Paragraphs>124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Google Sans Text</vt:lpstr>
      <vt:lpstr>Tema do Office</vt:lpstr>
      <vt:lpstr>1_Tema do Office</vt:lpstr>
      <vt:lpstr>DATA PREPARATION Professor: Sérgio Serra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Microsoft Office User</dc:creator>
  <cp:lastModifiedBy>Relacionamento | Atuar Cursos</cp:lastModifiedBy>
  <cp:revision>14</cp:revision>
  <dcterms:created xsi:type="dcterms:W3CDTF">2019-09-30T12:26:20Z</dcterms:created>
  <dcterms:modified xsi:type="dcterms:W3CDTF">2026-04-16T19:32:07Z</dcterms:modified>
</cp:coreProperties>
</file>